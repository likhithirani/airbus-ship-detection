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3"/>
          <p:cNvSpPr/>
          <p:nvPr/>
        </p:nvSpPr>
        <p:spPr>
          <a:xfrm>
            <a:off x="3092752" y="5317735"/>
            <a:ext cx="12250318" cy="911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685" y="0"/>
                </a:moveTo>
                <a:cubicBezTo>
                  <a:pt x="21190" y="0"/>
                  <a:pt x="21600" y="4835"/>
                  <a:pt x="21600" y="10800"/>
                </a:cubicBezTo>
                <a:cubicBezTo>
                  <a:pt x="21600" y="16765"/>
                  <a:pt x="21190" y="21600"/>
                  <a:pt x="20685" y="21600"/>
                </a:cubicBezTo>
                <a:lnTo>
                  <a:pt x="915" y="21600"/>
                </a:lnTo>
                <a:cubicBezTo>
                  <a:pt x="410" y="21600"/>
                  <a:pt x="0" y="16765"/>
                  <a:pt x="0" y="10800"/>
                </a:cubicBezTo>
                <a:cubicBezTo>
                  <a:pt x="0" y="4835"/>
                  <a:pt x="410" y="0"/>
                  <a:pt x="915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>
            <a:lvl1pPr algn="ctr">
              <a:defRPr sz="4600"/>
            </a:lvl1pPr>
          </a:lstStyle>
          <a:p>
            <a:pPr/>
            <a:r>
              <a:t>Airbus Ship Detection</a:t>
            </a:r>
          </a:p>
        </p:txBody>
      </p:sp>
      <p:sp>
        <p:nvSpPr>
          <p:cNvPr id="95" name="Freeform 5"/>
          <p:cNvSpPr/>
          <p:nvPr/>
        </p:nvSpPr>
        <p:spPr>
          <a:xfrm rot="19096035">
            <a:off x="795554" y="-1172141"/>
            <a:ext cx="1667137" cy="440168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Freeform 6"/>
          <p:cNvSpPr/>
          <p:nvPr/>
        </p:nvSpPr>
        <p:spPr>
          <a:xfrm rot="19096035">
            <a:off x="15367370" y="7057459"/>
            <a:ext cx="1667137" cy="440168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Freeform 7"/>
          <p:cNvSpPr/>
          <p:nvPr/>
        </p:nvSpPr>
        <p:spPr>
          <a:xfrm rot="478021">
            <a:off x="14673699" y="-1028700"/>
            <a:ext cx="2585602" cy="4114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Freeform 8"/>
          <p:cNvSpPr/>
          <p:nvPr/>
        </p:nvSpPr>
        <p:spPr>
          <a:xfrm rot="11692473">
            <a:off x="1850703" y="7200900"/>
            <a:ext cx="2585603" cy="4114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Freeform 9"/>
          <p:cNvSpPr/>
          <p:nvPr/>
        </p:nvSpPr>
        <p:spPr>
          <a:xfrm>
            <a:off x="-2176782" y="4042997"/>
            <a:ext cx="4875888" cy="210882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Freeform 10"/>
          <p:cNvSpPr/>
          <p:nvPr/>
        </p:nvSpPr>
        <p:spPr>
          <a:xfrm>
            <a:off x="15588893" y="4042997"/>
            <a:ext cx="4875888" cy="210882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Freeform 11"/>
          <p:cNvSpPr/>
          <p:nvPr/>
        </p:nvSpPr>
        <p:spPr>
          <a:xfrm>
            <a:off x="6005329" y="-673261"/>
            <a:ext cx="2236382" cy="204908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Freeform 12"/>
          <p:cNvSpPr/>
          <p:nvPr/>
        </p:nvSpPr>
        <p:spPr>
          <a:xfrm>
            <a:off x="11064582" y="8978955"/>
            <a:ext cx="2236382" cy="204908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Box 13"/>
          <p:cNvSpPr txBox="1"/>
          <p:nvPr/>
        </p:nvSpPr>
        <p:spPr>
          <a:xfrm>
            <a:off x="2699105" y="4088944"/>
            <a:ext cx="13037612" cy="911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300"/>
              </a:lnSpc>
              <a:defRPr b="1" sz="58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defRPr>
            </a:lvl1pPr>
          </a:lstStyle>
          <a:p>
            <a:pPr/>
            <a:r>
              <a:t>Machine Learning UE23CS352A</a:t>
            </a:r>
          </a:p>
        </p:txBody>
      </p:sp>
      <p:sp>
        <p:nvSpPr>
          <p:cNvPr id="104" name="TextBox 15"/>
          <p:cNvSpPr txBox="1"/>
          <p:nvPr/>
        </p:nvSpPr>
        <p:spPr>
          <a:xfrm>
            <a:off x="5194582" y="7278414"/>
            <a:ext cx="8919297" cy="1052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800"/>
              </a:lnSpc>
              <a:defRPr sz="24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defRPr>
            </a:pPr>
            <a:r>
              <a:t>Likhith M Irani - PES1UG23CS329</a:t>
            </a:r>
          </a:p>
          <a:p>
            <a:pPr algn="ctr">
              <a:lnSpc>
                <a:spcPts val="2800"/>
              </a:lnSpc>
              <a:defRPr sz="24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defRPr>
            </a:pPr>
            <a:r>
              <a:t>Meghan Singal  - PES1UG23CS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reeform 2"/>
          <p:cNvSpPr/>
          <p:nvPr/>
        </p:nvSpPr>
        <p:spPr>
          <a:xfrm rot="17936874">
            <a:off x="17222463" y="3638022"/>
            <a:ext cx="1103042" cy="291232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Freeform 3"/>
          <p:cNvSpPr/>
          <p:nvPr/>
        </p:nvSpPr>
        <p:spPr>
          <a:xfrm rot="7487239">
            <a:off x="102999" y="7039094"/>
            <a:ext cx="539797" cy="142520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Freeform 4"/>
          <p:cNvSpPr/>
          <p:nvPr/>
        </p:nvSpPr>
        <p:spPr>
          <a:xfrm rot="478021">
            <a:off x="13945945" y="-1145233"/>
            <a:ext cx="2435881" cy="387652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Freeform 5"/>
          <p:cNvSpPr/>
          <p:nvPr/>
        </p:nvSpPr>
        <p:spPr>
          <a:xfrm rot="11628388">
            <a:off x="999517" y="9213488"/>
            <a:ext cx="1192049" cy="18970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Freeform 6"/>
          <p:cNvSpPr/>
          <p:nvPr/>
        </p:nvSpPr>
        <p:spPr>
          <a:xfrm rot="20286621">
            <a:off x="15745733" y="289751"/>
            <a:ext cx="3417107" cy="147789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Freeform 7"/>
          <p:cNvSpPr/>
          <p:nvPr/>
        </p:nvSpPr>
        <p:spPr>
          <a:xfrm rot="9836988">
            <a:off x="-343883" y="9571631"/>
            <a:ext cx="1672234" cy="7232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Freeform 8"/>
          <p:cNvSpPr/>
          <p:nvPr/>
        </p:nvSpPr>
        <p:spPr>
          <a:xfrm>
            <a:off x="17078774" y="1979996"/>
            <a:ext cx="2236382" cy="2049086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Freeform 9"/>
          <p:cNvSpPr/>
          <p:nvPr/>
        </p:nvSpPr>
        <p:spPr>
          <a:xfrm rot="11150368">
            <a:off x="-318159" y="8432993"/>
            <a:ext cx="1094421" cy="100276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Freeform 10"/>
          <p:cNvSpPr/>
          <p:nvPr/>
        </p:nvSpPr>
        <p:spPr>
          <a:xfrm>
            <a:off x="13850300" y="8835900"/>
            <a:ext cx="4114801" cy="4114801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Freeform 11"/>
          <p:cNvSpPr/>
          <p:nvPr/>
        </p:nvSpPr>
        <p:spPr>
          <a:xfrm>
            <a:off x="2090719" y="-2299825"/>
            <a:ext cx="4114801" cy="4114801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TextBox 12"/>
          <p:cNvSpPr txBox="1"/>
          <p:nvPr/>
        </p:nvSpPr>
        <p:spPr>
          <a:xfrm>
            <a:off x="2143204" y="3201239"/>
            <a:ext cx="13358067" cy="577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800"/>
              </a:lnSpc>
              <a:defRPr b="1" sz="27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Goal: Accurately identify and delineate the exact pixel area of ships in high-resolution satellite imagery.</a:t>
            </a:r>
          </a:p>
          <a:p>
            <a:pPr>
              <a:lnSpc>
                <a:spcPts val="3800"/>
              </a:lnSpc>
              <a:defRPr b="1" sz="27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</a:p>
          <a:p>
            <a:pPr>
              <a:lnSpc>
                <a:spcPts val="3800"/>
              </a:lnSpc>
              <a:defRPr b="1" sz="27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Why Segmentation?</a:t>
            </a:r>
          </a:p>
          <a:p>
            <a:pPr>
              <a:lnSpc>
                <a:spcPts val="3800"/>
              </a:lnSpc>
              <a:defRPr b="1" sz="27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</a:p>
          <a:p>
            <a:pPr>
              <a:lnSpc>
                <a:spcPts val="3800"/>
              </a:lnSpc>
              <a:defRPr b="1" sz="27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This project goes beyond simple classification or detection:</a:t>
            </a:r>
          </a:p>
          <a:p>
            <a:pPr lvl="1" marL="651710" indent="-270710">
              <a:lnSpc>
                <a:spcPts val="3800"/>
              </a:lnSpc>
              <a:buSzPct val="100000"/>
              <a:buChar char="•"/>
              <a:defRPr b="1" sz="27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Image Classification: Is a ship present? (Too coarse)</a:t>
            </a:r>
          </a:p>
          <a:p>
            <a:pPr lvl="1" marL="651710" indent="-270710">
              <a:lnSpc>
                <a:spcPts val="3800"/>
              </a:lnSpc>
              <a:buSzPct val="100000"/>
              <a:buChar char="•"/>
              <a:defRPr b="1" sz="27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Object Detection: Where is the ship? (Bounding Box)</a:t>
            </a:r>
          </a:p>
          <a:p>
            <a:pPr lvl="1" marL="651710" indent="-270710">
              <a:lnSpc>
                <a:spcPts val="3800"/>
              </a:lnSpc>
              <a:buSzPct val="100000"/>
              <a:buChar char="•"/>
              <a:defRPr b="1" sz="27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Semantic Segmentation: What pixels belong to the ship? (Pixel-wise mask)</a:t>
            </a:r>
          </a:p>
          <a:p>
            <a:pPr>
              <a:lnSpc>
                <a:spcPts val="3800"/>
              </a:lnSpc>
              <a:defRPr b="1" sz="27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This task requires a model that understands context and provides precise localization.</a:t>
            </a:r>
          </a:p>
        </p:txBody>
      </p:sp>
      <p:sp>
        <p:nvSpPr>
          <p:cNvPr id="117" name="TextBox 13"/>
          <p:cNvSpPr txBox="1"/>
          <p:nvPr/>
        </p:nvSpPr>
        <p:spPr>
          <a:xfrm>
            <a:off x="5263513" y="694797"/>
            <a:ext cx="8930217" cy="46194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7300"/>
              </a:lnSpc>
              <a:defRPr sz="58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defRPr>
            </a:pPr>
            <a:r>
              <a:t>The Core Problem: Semantic Segmentation</a:t>
            </a:r>
          </a:p>
          <a:p>
            <a:pPr>
              <a:lnSpc>
                <a:spcPts val="7300"/>
              </a:lnSpc>
              <a:defRPr sz="58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defRPr>
            </a:pPr>
          </a:p>
          <a:p>
            <a:pPr>
              <a:lnSpc>
                <a:spcPts val="7300"/>
              </a:lnSpc>
              <a:defRPr sz="58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defRPr>
            </a:pPr>
          </a:p>
          <a:p>
            <a:pPr>
              <a:lnSpc>
                <a:spcPts val="7300"/>
              </a:lnSpc>
              <a:defRPr sz="58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defRPr>
            </a:pP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Freeform 2"/>
          <p:cNvSpPr/>
          <p:nvPr/>
        </p:nvSpPr>
        <p:spPr>
          <a:xfrm rot="7487239">
            <a:off x="102999" y="7039094"/>
            <a:ext cx="539797" cy="142520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Freeform 3"/>
          <p:cNvSpPr/>
          <p:nvPr/>
        </p:nvSpPr>
        <p:spPr>
          <a:xfrm rot="18367731">
            <a:off x="17808477" y="2164581"/>
            <a:ext cx="539797" cy="142520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Freeform 4"/>
          <p:cNvSpPr/>
          <p:nvPr/>
        </p:nvSpPr>
        <p:spPr>
          <a:xfrm rot="12226391">
            <a:off x="2257301" y="-749219"/>
            <a:ext cx="539797" cy="142520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Freeform 5"/>
          <p:cNvSpPr/>
          <p:nvPr/>
        </p:nvSpPr>
        <p:spPr>
          <a:xfrm rot="1890632">
            <a:off x="15195150" y="9232235"/>
            <a:ext cx="539796" cy="142520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Freeform 6"/>
          <p:cNvSpPr/>
          <p:nvPr/>
        </p:nvSpPr>
        <p:spPr>
          <a:xfrm rot="11628388">
            <a:off x="999517" y="9213488"/>
            <a:ext cx="1192049" cy="18970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Freeform 7"/>
          <p:cNvSpPr/>
          <p:nvPr/>
        </p:nvSpPr>
        <p:spPr>
          <a:xfrm rot="908875">
            <a:off x="16316472" y="-509633"/>
            <a:ext cx="1192050" cy="18970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Freeform 8"/>
          <p:cNvSpPr/>
          <p:nvPr/>
        </p:nvSpPr>
        <p:spPr>
          <a:xfrm rot="16367538">
            <a:off x="-201161" y="675472"/>
            <a:ext cx="1192049" cy="18970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Freeform 9"/>
          <p:cNvSpPr/>
          <p:nvPr/>
        </p:nvSpPr>
        <p:spPr>
          <a:xfrm rot="6031778">
            <a:off x="17205518" y="7637891"/>
            <a:ext cx="1192050" cy="18970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Freeform 10"/>
          <p:cNvSpPr/>
          <p:nvPr/>
        </p:nvSpPr>
        <p:spPr>
          <a:xfrm rot="9836988">
            <a:off x="-343883" y="9571631"/>
            <a:ext cx="1672234" cy="7232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Freeform 11"/>
          <p:cNvSpPr/>
          <p:nvPr/>
        </p:nvSpPr>
        <p:spPr>
          <a:xfrm rot="20717477">
            <a:off x="17174027" y="331812"/>
            <a:ext cx="1672234" cy="72324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Freeform 12"/>
          <p:cNvSpPr/>
          <p:nvPr/>
        </p:nvSpPr>
        <p:spPr>
          <a:xfrm rot="14576138">
            <a:off x="-427487" y="135691"/>
            <a:ext cx="1672233" cy="72324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Freeform 13"/>
          <p:cNvSpPr/>
          <p:nvPr/>
        </p:nvSpPr>
        <p:spPr>
          <a:xfrm rot="4240378">
            <a:off x="16800098" y="9339379"/>
            <a:ext cx="1672234" cy="72324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Freeform 14"/>
          <p:cNvSpPr/>
          <p:nvPr/>
        </p:nvSpPr>
        <p:spPr>
          <a:xfrm rot="11150368">
            <a:off x="-318159" y="8432993"/>
            <a:ext cx="1094421" cy="100276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Freeform 15"/>
          <p:cNvSpPr/>
          <p:nvPr/>
        </p:nvSpPr>
        <p:spPr>
          <a:xfrm rot="430856">
            <a:off x="17702660" y="1196818"/>
            <a:ext cx="1094421" cy="100276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Freeform 16"/>
          <p:cNvSpPr/>
          <p:nvPr/>
        </p:nvSpPr>
        <p:spPr>
          <a:xfrm rot="15889519">
            <a:off x="791616" y="-453241"/>
            <a:ext cx="1094421" cy="100276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Freeform 17"/>
          <p:cNvSpPr/>
          <p:nvPr/>
        </p:nvSpPr>
        <p:spPr>
          <a:xfrm rot="5553757">
            <a:off x="16106802" y="9519467"/>
            <a:ext cx="1094421" cy="100276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Box 18"/>
          <p:cNvSpPr txBox="1"/>
          <p:nvPr/>
        </p:nvSpPr>
        <p:spPr>
          <a:xfrm>
            <a:off x="1595540" y="1699801"/>
            <a:ext cx="16264913" cy="8012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5800"/>
              </a:lnSpc>
              <a:defRPr b="1" sz="50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defRPr>
            </a:pPr>
            <a:r>
              <a:t>Dataset and Data Challenge</a:t>
            </a:r>
          </a:p>
          <a:p>
            <a:pPr>
              <a:lnSpc>
                <a:spcPts val="5800"/>
              </a:lnSpc>
              <a:defRPr sz="1600"/>
            </a:pPr>
          </a:p>
          <a:p>
            <a:pPr>
              <a:lnSpc>
                <a:spcPts val="5800"/>
              </a:lnSpc>
              <a:defRPr b="1" sz="19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defRPr>
            </a:pPr>
            <a:r>
              <a:t>Dataset: Airbus Ship Detection (Kaggle Competition)</a:t>
            </a:r>
          </a:p>
          <a:p>
            <a:pPr marL="190500" indent="-190500">
              <a:lnSpc>
                <a:spcPts val="5800"/>
              </a:lnSpc>
              <a:buSzPct val="100000"/>
              <a:buChar char="•"/>
              <a:defRPr b="1" sz="19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defRPr>
            </a:pPr>
            <a:r>
              <a:t>Source Data: </a:t>
            </a:r>
            <a:r>
              <a:rPr b="0"/>
              <a:t>Images in train_v2 and test_v2 folders.</a:t>
            </a:r>
            <a:endParaRPr b="0"/>
          </a:p>
          <a:p>
            <a:pPr marL="190500" indent="-190500">
              <a:lnSpc>
                <a:spcPts val="5800"/>
              </a:lnSpc>
              <a:buSzPct val="100000"/>
              <a:buChar char="•"/>
              <a:defRPr b="1" sz="19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defRPr>
            </a:pPr>
            <a:r>
              <a:t>Annotations: t</a:t>
            </a:r>
            <a:r>
              <a:rPr b="0"/>
              <a:t>rain_ship_segmentation.csv provides ground truth.</a:t>
            </a:r>
            <a:endParaRPr b="0"/>
          </a:p>
          <a:p>
            <a:pPr marL="190500" indent="-190500">
              <a:lnSpc>
                <a:spcPts val="5800"/>
              </a:lnSpc>
              <a:buSzPct val="100000"/>
              <a:buChar char="•"/>
              <a:defRPr b="1" sz="19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defRPr>
            </a:pPr>
            <a:r>
              <a:t>Data Size: </a:t>
            </a:r>
            <a:r>
              <a:rPr b="0"/>
              <a:t>Over 192,000 images were analyzed in the training directory.</a:t>
            </a:r>
            <a:endParaRPr b="0"/>
          </a:p>
          <a:p>
            <a:pPr>
              <a:lnSpc>
                <a:spcPts val="5800"/>
              </a:lnSpc>
              <a:defRPr b="1" sz="19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defRPr>
            </a:pPr>
            <a:r>
              <a:t>The Key Data Challenge: Run Length Encoding (RLE)</a:t>
            </a:r>
          </a:p>
          <a:p>
            <a:pPr lvl="1" marL="571500" indent="-190500">
              <a:lnSpc>
                <a:spcPts val="5800"/>
              </a:lnSpc>
              <a:buSzPct val="100000"/>
              <a:buChar char="•"/>
              <a:defRPr b="1" sz="19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defRPr>
            </a:pPr>
            <a:r>
              <a:t>The ground-truth segmentation masks are stored in a compressed format called Run Length Encoding (RLE).</a:t>
            </a:r>
          </a:p>
          <a:p>
            <a:pPr lvl="1" marL="571500" indent="-190500">
              <a:lnSpc>
                <a:spcPts val="5800"/>
              </a:lnSpc>
              <a:buSzPct val="100000"/>
              <a:buChar char="•"/>
              <a:defRPr b="1" sz="19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defRPr>
            </a:pPr>
            <a:r>
              <a:t>RLE efficiently stores the location and length of continuous 'ship' pixels, but must be decoded into a full 2D binary mask for model training.</a:t>
            </a:r>
          </a:p>
        </p:txBody>
      </p:sp>
      <p:sp>
        <p:nvSpPr>
          <p:cNvPr id="136" name="TextBox 19"/>
          <p:cNvSpPr txBox="1"/>
          <p:nvPr/>
        </p:nvSpPr>
        <p:spPr>
          <a:xfrm>
            <a:off x="7839023" y="6951294"/>
            <a:ext cx="620050" cy="315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 sz="2100">
                <a:solidFill>
                  <a:srgbClr val="080736"/>
                </a:solidFill>
                <a:latin typeface="Tomorrow"/>
                <a:ea typeface="Tomorrow"/>
                <a:cs typeface="Tomorrow"/>
                <a:sym typeface="Tomorrow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37" name="TextBox 20"/>
          <p:cNvSpPr txBox="1"/>
          <p:nvPr/>
        </p:nvSpPr>
        <p:spPr>
          <a:xfrm>
            <a:off x="7839023" y="5515271"/>
            <a:ext cx="620050" cy="315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 sz="2100">
                <a:solidFill>
                  <a:srgbClr val="080736"/>
                </a:solidFill>
                <a:latin typeface="Tomorrow"/>
                <a:ea typeface="Tomorrow"/>
                <a:cs typeface="Tomorrow"/>
                <a:sym typeface="Tomorrow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38" name="TextBox 21"/>
          <p:cNvSpPr txBox="1"/>
          <p:nvPr/>
        </p:nvSpPr>
        <p:spPr>
          <a:xfrm>
            <a:off x="7839023" y="8390790"/>
            <a:ext cx="620050" cy="315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 sz="2100">
                <a:solidFill>
                  <a:srgbClr val="080736"/>
                </a:solidFill>
                <a:latin typeface="Tomorrow"/>
                <a:ea typeface="Tomorrow"/>
                <a:cs typeface="Tomorrow"/>
                <a:sym typeface="Tomorrow"/>
              </a:defRPr>
            </a:lvl1pPr>
          </a:lstStyle>
          <a:p>
            <a:pPr/>
            <a:r>
              <a:t>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Freeform 2"/>
          <p:cNvSpPr/>
          <p:nvPr/>
        </p:nvSpPr>
        <p:spPr>
          <a:xfrm rot="7487239">
            <a:off x="102999" y="7039094"/>
            <a:ext cx="539797" cy="142520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Freeform 3"/>
          <p:cNvSpPr/>
          <p:nvPr/>
        </p:nvSpPr>
        <p:spPr>
          <a:xfrm rot="18367731">
            <a:off x="17808477" y="2164581"/>
            <a:ext cx="539797" cy="142520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Freeform 4"/>
          <p:cNvSpPr/>
          <p:nvPr/>
        </p:nvSpPr>
        <p:spPr>
          <a:xfrm rot="12226391">
            <a:off x="2257301" y="-749219"/>
            <a:ext cx="539797" cy="142520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Freeform 5"/>
          <p:cNvSpPr/>
          <p:nvPr/>
        </p:nvSpPr>
        <p:spPr>
          <a:xfrm rot="1890632">
            <a:off x="15195150" y="9232235"/>
            <a:ext cx="539796" cy="142520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Freeform 6"/>
          <p:cNvSpPr/>
          <p:nvPr/>
        </p:nvSpPr>
        <p:spPr>
          <a:xfrm rot="11628388">
            <a:off x="999517" y="9213488"/>
            <a:ext cx="1192049" cy="18970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Freeform 7"/>
          <p:cNvSpPr/>
          <p:nvPr/>
        </p:nvSpPr>
        <p:spPr>
          <a:xfrm rot="908875">
            <a:off x="16316472" y="-509633"/>
            <a:ext cx="1192050" cy="18970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Freeform 8"/>
          <p:cNvSpPr/>
          <p:nvPr/>
        </p:nvSpPr>
        <p:spPr>
          <a:xfrm rot="16367538">
            <a:off x="-201161" y="675472"/>
            <a:ext cx="1192049" cy="18970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Freeform 9"/>
          <p:cNvSpPr/>
          <p:nvPr/>
        </p:nvSpPr>
        <p:spPr>
          <a:xfrm rot="6031778">
            <a:off x="17205518" y="7637891"/>
            <a:ext cx="1192050" cy="18970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Freeform 10"/>
          <p:cNvSpPr/>
          <p:nvPr/>
        </p:nvSpPr>
        <p:spPr>
          <a:xfrm rot="9836988">
            <a:off x="-343883" y="9571631"/>
            <a:ext cx="1672234" cy="7232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Freeform 11"/>
          <p:cNvSpPr/>
          <p:nvPr/>
        </p:nvSpPr>
        <p:spPr>
          <a:xfrm rot="20717477">
            <a:off x="17174027" y="331812"/>
            <a:ext cx="1672234" cy="72324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Freeform 12"/>
          <p:cNvSpPr/>
          <p:nvPr/>
        </p:nvSpPr>
        <p:spPr>
          <a:xfrm rot="14576138">
            <a:off x="-427487" y="135691"/>
            <a:ext cx="1672233" cy="72324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Freeform 13"/>
          <p:cNvSpPr/>
          <p:nvPr/>
        </p:nvSpPr>
        <p:spPr>
          <a:xfrm rot="4240378">
            <a:off x="16800098" y="9339379"/>
            <a:ext cx="1672234" cy="72324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Freeform 14"/>
          <p:cNvSpPr/>
          <p:nvPr/>
        </p:nvSpPr>
        <p:spPr>
          <a:xfrm rot="11150368">
            <a:off x="-318159" y="8432993"/>
            <a:ext cx="1094421" cy="100276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Freeform 15"/>
          <p:cNvSpPr/>
          <p:nvPr/>
        </p:nvSpPr>
        <p:spPr>
          <a:xfrm rot="430856">
            <a:off x="17702660" y="1196818"/>
            <a:ext cx="1094421" cy="100276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Freeform 16"/>
          <p:cNvSpPr/>
          <p:nvPr/>
        </p:nvSpPr>
        <p:spPr>
          <a:xfrm rot="15889519">
            <a:off x="791616" y="-453241"/>
            <a:ext cx="1094421" cy="100276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Freeform 17"/>
          <p:cNvSpPr/>
          <p:nvPr/>
        </p:nvSpPr>
        <p:spPr>
          <a:xfrm rot="5553757">
            <a:off x="16106802" y="9519467"/>
            <a:ext cx="1094421" cy="100276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Box 18"/>
          <p:cNvSpPr txBox="1"/>
          <p:nvPr/>
        </p:nvSpPr>
        <p:spPr>
          <a:xfrm>
            <a:off x="2701567" y="2414904"/>
            <a:ext cx="13666891" cy="5977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100"/>
              </a:lnSpc>
              <a:defRPr b="1"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The UNET model is ideal for semantic segmentation due to its unique structure:</a:t>
            </a:r>
          </a:p>
          <a:p>
            <a:pPr lvl="1" marL="671763" indent="-290763">
              <a:lnSpc>
                <a:spcPts val="4100"/>
              </a:lnSpc>
              <a:buSzPct val="100000"/>
              <a:buChar char="•"/>
              <a:defRPr b="1"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Encoder Path (Contraction):</a:t>
            </a:r>
          </a:p>
          <a:p>
            <a:pPr lvl="2">
              <a:lnSpc>
                <a:spcPts val="4100"/>
              </a:lnSpc>
              <a:defRPr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Captures the context of the image (what is being seen).</a:t>
            </a:r>
          </a:p>
          <a:p>
            <a:pPr lvl="2">
              <a:lnSpc>
                <a:spcPts val="4100"/>
              </a:lnSpc>
              <a:defRPr b="1"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rPr b="0"/>
              <a:t>Uses repeated convolutions and max-pooling to downsample the image.</a:t>
            </a:r>
            <a:endParaRPr b="0"/>
          </a:p>
          <a:p>
            <a:pPr lvl="1" marL="671763" indent="-290763">
              <a:lnSpc>
                <a:spcPts val="4100"/>
              </a:lnSpc>
              <a:buSzPct val="100000"/>
              <a:buChar char="•"/>
              <a:defRPr b="1"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Decoder Path (Expansion):</a:t>
            </a:r>
          </a:p>
          <a:p>
            <a:pPr lvl="2">
              <a:lnSpc>
                <a:spcPts val="4100"/>
              </a:lnSpc>
              <a:defRPr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Enables precise localization (where it is).</a:t>
            </a:r>
          </a:p>
          <a:p>
            <a:pPr lvl="2">
              <a:lnSpc>
                <a:spcPts val="4100"/>
              </a:lnSpc>
              <a:defRPr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Uses upsampling layers to reconstruct the segmentation mask.</a:t>
            </a:r>
          </a:p>
          <a:p>
            <a:pPr lvl="1" marL="671763" indent="-290763">
              <a:lnSpc>
                <a:spcPts val="4100"/>
              </a:lnSpc>
              <a:buSzPct val="100000"/>
              <a:buChar char="•"/>
              <a:defRPr b="1"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Skip Connections (The Secret Sauce):</a:t>
            </a:r>
          </a:p>
          <a:p>
            <a:pPr lvl="2">
              <a:lnSpc>
                <a:spcPts val="4100"/>
              </a:lnSpc>
              <a:defRPr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Directly connects features from the encoder to the decoder.</a:t>
            </a:r>
          </a:p>
          <a:p>
            <a:pPr lvl="2">
              <a:lnSpc>
                <a:spcPts val="4100"/>
              </a:lnSpc>
              <a:defRPr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Crucial for recovering fine-grained spatial details lost during downsampling.</a:t>
            </a:r>
          </a:p>
        </p:txBody>
      </p:sp>
      <p:sp>
        <p:nvSpPr>
          <p:cNvPr id="157" name="TextBox 19"/>
          <p:cNvSpPr txBox="1"/>
          <p:nvPr/>
        </p:nvSpPr>
        <p:spPr>
          <a:xfrm>
            <a:off x="7382168" y="4972032"/>
            <a:ext cx="620050" cy="315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 sz="2100">
                <a:solidFill>
                  <a:srgbClr val="080736"/>
                </a:solidFill>
                <a:latin typeface="Tomorrow"/>
                <a:ea typeface="Tomorrow"/>
                <a:cs typeface="Tomorrow"/>
                <a:sym typeface="Tomorrow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58" name="TextBox 20"/>
          <p:cNvSpPr txBox="1"/>
          <p:nvPr/>
        </p:nvSpPr>
        <p:spPr>
          <a:xfrm>
            <a:off x="7382168" y="7847548"/>
            <a:ext cx="620050" cy="315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 sz="2100">
                <a:solidFill>
                  <a:srgbClr val="080736"/>
                </a:solidFill>
                <a:latin typeface="Tomorrow"/>
                <a:ea typeface="Tomorrow"/>
                <a:cs typeface="Tomorrow"/>
                <a:sym typeface="Tomorrow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59" name="TextBox 21"/>
          <p:cNvSpPr txBox="1"/>
          <p:nvPr/>
        </p:nvSpPr>
        <p:spPr>
          <a:xfrm>
            <a:off x="7382168" y="6411526"/>
            <a:ext cx="620050" cy="315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 sz="2100">
                <a:solidFill>
                  <a:srgbClr val="080736"/>
                </a:solidFill>
                <a:latin typeface="Tomorrow"/>
                <a:ea typeface="Tomorrow"/>
                <a:cs typeface="Tomorrow"/>
                <a:sym typeface="Tomorrow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0" name="TextBox 22"/>
          <p:cNvSpPr txBox="1"/>
          <p:nvPr/>
        </p:nvSpPr>
        <p:spPr>
          <a:xfrm>
            <a:off x="3166880" y="467763"/>
            <a:ext cx="9848368" cy="1838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7300"/>
              </a:lnSpc>
              <a:defRPr b="1" sz="58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defRPr>
            </a:lvl1pPr>
          </a:lstStyle>
          <a:p>
            <a:pPr/>
            <a:r>
              <a:t>Model Architecture: The UNET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Freeform 2"/>
          <p:cNvSpPr/>
          <p:nvPr/>
        </p:nvSpPr>
        <p:spPr>
          <a:xfrm rot="7487239">
            <a:off x="102999" y="7039094"/>
            <a:ext cx="539797" cy="142520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Freeform 3"/>
          <p:cNvSpPr/>
          <p:nvPr/>
        </p:nvSpPr>
        <p:spPr>
          <a:xfrm rot="18367731">
            <a:off x="17808477" y="2164581"/>
            <a:ext cx="539797" cy="142520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Freeform 4"/>
          <p:cNvSpPr/>
          <p:nvPr/>
        </p:nvSpPr>
        <p:spPr>
          <a:xfrm rot="12226391">
            <a:off x="2257301" y="-749219"/>
            <a:ext cx="539797" cy="142520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Freeform 5"/>
          <p:cNvSpPr/>
          <p:nvPr/>
        </p:nvSpPr>
        <p:spPr>
          <a:xfrm rot="1890632">
            <a:off x="15195150" y="9232235"/>
            <a:ext cx="539796" cy="142520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Freeform 6"/>
          <p:cNvSpPr/>
          <p:nvPr/>
        </p:nvSpPr>
        <p:spPr>
          <a:xfrm rot="11628388">
            <a:off x="999517" y="9213488"/>
            <a:ext cx="1192049" cy="18970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Freeform 7"/>
          <p:cNvSpPr/>
          <p:nvPr/>
        </p:nvSpPr>
        <p:spPr>
          <a:xfrm rot="908875">
            <a:off x="16316472" y="-509633"/>
            <a:ext cx="1192050" cy="18970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Freeform 8"/>
          <p:cNvSpPr/>
          <p:nvPr/>
        </p:nvSpPr>
        <p:spPr>
          <a:xfrm rot="16367538">
            <a:off x="-201161" y="675472"/>
            <a:ext cx="1192049" cy="18970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Freeform 9"/>
          <p:cNvSpPr/>
          <p:nvPr/>
        </p:nvSpPr>
        <p:spPr>
          <a:xfrm rot="6031778">
            <a:off x="17205518" y="7637891"/>
            <a:ext cx="1192050" cy="18970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Freeform 10"/>
          <p:cNvSpPr/>
          <p:nvPr/>
        </p:nvSpPr>
        <p:spPr>
          <a:xfrm rot="9836988">
            <a:off x="-343883" y="9571631"/>
            <a:ext cx="1672234" cy="7232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Freeform 11"/>
          <p:cNvSpPr/>
          <p:nvPr/>
        </p:nvSpPr>
        <p:spPr>
          <a:xfrm rot="20717477">
            <a:off x="17174027" y="331812"/>
            <a:ext cx="1672234" cy="72324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Freeform 12"/>
          <p:cNvSpPr/>
          <p:nvPr/>
        </p:nvSpPr>
        <p:spPr>
          <a:xfrm rot="14576138">
            <a:off x="-427487" y="135691"/>
            <a:ext cx="1672233" cy="72324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Freeform 13"/>
          <p:cNvSpPr/>
          <p:nvPr/>
        </p:nvSpPr>
        <p:spPr>
          <a:xfrm rot="4240378">
            <a:off x="16800098" y="9339379"/>
            <a:ext cx="1672234" cy="72324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Freeform 14"/>
          <p:cNvSpPr/>
          <p:nvPr/>
        </p:nvSpPr>
        <p:spPr>
          <a:xfrm rot="11150368">
            <a:off x="-318159" y="8432993"/>
            <a:ext cx="1094421" cy="100276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Freeform 15"/>
          <p:cNvSpPr/>
          <p:nvPr/>
        </p:nvSpPr>
        <p:spPr>
          <a:xfrm rot="430856">
            <a:off x="17702660" y="1196818"/>
            <a:ext cx="1094421" cy="100276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Freeform 16"/>
          <p:cNvSpPr/>
          <p:nvPr/>
        </p:nvSpPr>
        <p:spPr>
          <a:xfrm rot="15889519">
            <a:off x="791616" y="-453241"/>
            <a:ext cx="1094421" cy="100276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Freeform 17"/>
          <p:cNvSpPr/>
          <p:nvPr/>
        </p:nvSpPr>
        <p:spPr>
          <a:xfrm rot="5553757">
            <a:off x="16106802" y="9519467"/>
            <a:ext cx="1094421" cy="100276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Box 18"/>
          <p:cNvSpPr txBox="1"/>
          <p:nvPr/>
        </p:nvSpPr>
        <p:spPr>
          <a:xfrm>
            <a:off x="2734788" y="2382576"/>
            <a:ext cx="13666891" cy="5160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100"/>
              </a:lnSpc>
              <a:defRPr b="1"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Implementation Details:</a:t>
            </a:r>
          </a:p>
          <a:p>
            <a:pPr lvl="1" marL="671763" indent="-290763">
              <a:lnSpc>
                <a:spcPts val="4100"/>
              </a:lnSpc>
              <a:buSzPct val="100000"/>
              <a:buChar char="•"/>
              <a:defRPr b="1"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rPr u="sng"/>
              <a:t>Libraries:</a:t>
            </a:r>
            <a:r>
              <a:t> </a:t>
            </a:r>
            <a:r>
              <a:rPr b="0"/>
              <a:t>Built using Keras/TensorFlow alongside NumPy, Pandas, and</a:t>
            </a:r>
            <a:endParaRPr b="0"/>
          </a:p>
          <a:p>
            <a:pPr lvl="1">
              <a:lnSpc>
                <a:spcPts val="4100"/>
              </a:lnSpc>
              <a:defRPr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scikit-image.</a:t>
            </a:r>
          </a:p>
          <a:p>
            <a:pPr lvl="1" marL="671763" indent="-290763">
              <a:lnSpc>
                <a:spcPts val="4100"/>
              </a:lnSpc>
              <a:buSzPct val="100000"/>
              <a:buChar char="•"/>
              <a:defRPr b="1"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rPr u="sng"/>
              <a:t>Data Pipeline:</a:t>
            </a:r>
            <a:r>
              <a:t> I</a:t>
            </a:r>
            <a:r>
              <a:rPr b="0"/>
              <a:t>mplemented custom data generators to handle on-the-fly       RLE decoding and image loading.</a:t>
            </a:r>
            <a:endParaRPr b="0"/>
          </a:p>
          <a:p>
            <a:pPr lvl="1" marL="671763" indent="-290763">
              <a:lnSpc>
                <a:spcPts val="4100"/>
              </a:lnSpc>
              <a:buSzPct val="100000"/>
              <a:buChar char="•"/>
              <a:defRPr b="1"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rPr u="sng"/>
              <a:t>Optimization: </a:t>
            </a:r>
            <a:r>
              <a:rPr b="0"/>
              <a:t>The</a:t>
            </a:r>
            <a:r>
              <a:t> </a:t>
            </a:r>
            <a:r>
              <a:rPr b="0"/>
              <a:t>model</a:t>
            </a:r>
            <a:r>
              <a:t> </a:t>
            </a:r>
            <a:r>
              <a:rPr b="0"/>
              <a:t>was trained using an optimal learning rate and a     custom loss function, incorporating early stopping and checkpoints.</a:t>
            </a:r>
          </a:p>
          <a:p>
            <a:pPr lvl="1" marL="671763" indent="-290763">
              <a:lnSpc>
                <a:spcPts val="4100"/>
              </a:lnSpc>
              <a:buSzPct val="100000"/>
              <a:buChar char="•"/>
              <a:defRPr b="1"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rPr u="sng"/>
              <a:t>Output:</a:t>
            </a:r>
            <a:r>
              <a:t> </a:t>
            </a:r>
            <a:r>
              <a:rPr b="0"/>
              <a:t>The final model weights are saved as seg_model.h5 for future inference and testing.</a:t>
            </a:r>
            <a:endParaRPr b="0"/>
          </a:p>
        </p:txBody>
      </p:sp>
      <p:sp>
        <p:nvSpPr>
          <p:cNvPr id="179" name="TextBox 19"/>
          <p:cNvSpPr txBox="1"/>
          <p:nvPr/>
        </p:nvSpPr>
        <p:spPr>
          <a:xfrm>
            <a:off x="7049961" y="8606889"/>
            <a:ext cx="620050" cy="315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 sz="2100">
                <a:solidFill>
                  <a:srgbClr val="080736"/>
                </a:solidFill>
                <a:latin typeface="Tomorrow"/>
                <a:ea typeface="Tomorrow"/>
                <a:cs typeface="Tomorrow"/>
                <a:sym typeface="Tomorrow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80" name="TextBox 20"/>
          <p:cNvSpPr txBox="1"/>
          <p:nvPr/>
        </p:nvSpPr>
        <p:spPr>
          <a:xfrm>
            <a:off x="7382168" y="7847548"/>
            <a:ext cx="620050" cy="315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 sz="2100">
                <a:solidFill>
                  <a:srgbClr val="080736"/>
                </a:solidFill>
                <a:latin typeface="Tomorrow"/>
                <a:ea typeface="Tomorrow"/>
                <a:cs typeface="Tomorrow"/>
                <a:sym typeface="Tomorrow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81" name="TextBox 21"/>
          <p:cNvSpPr txBox="1"/>
          <p:nvPr/>
        </p:nvSpPr>
        <p:spPr>
          <a:xfrm>
            <a:off x="7382168" y="6411526"/>
            <a:ext cx="620050" cy="315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 sz="2100">
                <a:solidFill>
                  <a:srgbClr val="080736"/>
                </a:solidFill>
                <a:latin typeface="Tomorrow"/>
                <a:ea typeface="Tomorrow"/>
                <a:cs typeface="Tomorrow"/>
                <a:sym typeface="Tomorrow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2" name="TextBox 22"/>
          <p:cNvSpPr txBox="1"/>
          <p:nvPr/>
        </p:nvSpPr>
        <p:spPr>
          <a:xfrm>
            <a:off x="2768008" y="329195"/>
            <a:ext cx="9848369" cy="1838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7300"/>
              </a:lnSpc>
              <a:defRPr b="1" sz="58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defRPr>
            </a:pPr>
            <a:r>
              <a:t>Training and</a:t>
            </a:r>
          </a:p>
          <a:p>
            <a:pPr>
              <a:lnSpc>
                <a:spcPts val="7300"/>
              </a:lnSpc>
              <a:defRPr b="1" sz="58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defRPr>
            </a:pPr>
            <a:r>
              <a:t>Implementation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Freeform 2"/>
          <p:cNvSpPr/>
          <p:nvPr/>
        </p:nvSpPr>
        <p:spPr>
          <a:xfrm rot="7487239">
            <a:off x="102999" y="7039094"/>
            <a:ext cx="539797" cy="142520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Freeform 3"/>
          <p:cNvSpPr/>
          <p:nvPr/>
        </p:nvSpPr>
        <p:spPr>
          <a:xfrm rot="18367731">
            <a:off x="17808477" y="2164581"/>
            <a:ext cx="539797" cy="142520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Freeform 4"/>
          <p:cNvSpPr/>
          <p:nvPr/>
        </p:nvSpPr>
        <p:spPr>
          <a:xfrm rot="12226391">
            <a:off x="2257301" y="-749219"/>
            <a:ext cx="539797" cy="142520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Freeform 5"/>
          <p:cNvSpPr/>
          <p:nvPr/>
        </p:nvSpPr>
        <p:spPr>
          <a:xfrm rot="1890632">
            <a:off x="15195150" y="9232235"/>
            <a:ext cx="539796" cy="142520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Freeform 6"/>
          <p:cNvSpPr/>
          <p:nvPr/>
        </p:nvSpPr>
        <p:spPr>
          <a:xfrm rot="11628388">
            <a:off x="999517" y="9213488"/>
            <a:ext cx="1192049" cy="18970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Freeform 7"/>
          <p:cNvSpPr/>
          <p:nvPr/>
        </p:nvSpPr>
        <p:spPr>
          <a:xfrm rot="908875">
            <a:off x="16316472" y="-509633"/>
            <a:ext cx="1192050" cy="18970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Freeform 8"/>
          <p:cNvSpPr/>
          <p:nvPr/>
        </p:nvSpPr>
        <p:spPr>
          <a:xfrm rot="16367538">
            <a:off x="-201161" y="675472"/>
            <a:ext cx="1192049" cy="18970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Freeform 9"/>
          <p:cNvSpPr/>
          <p:nvPr/>
        </p:nvSpPr>
        <p:spPr>
          <a:xfrm rot="6031778">
            <a:off x="17205518" y="7637891"/>
            <a:ext cx="1192050" cy="18970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Freeform 10"/>
          <p:cNvSpPr/>
          <p:nvPr/>
        </p:nvSpPr>
        <p:spPr>
          <a:xfrm rot="9836988">
            <a:off x="-343883" y="9571631"/>
            <a:ext cx="1672234" cy="7232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Freeform 11"/>
          <p:cNvSpPr/>
          <p:nvPr/>
        </p:nvSpPr>
        <p:spPr>
          <a:xfrm rot="20717477">
            <a:off x="17174027" y="331812"/>
            <a:ext cx="1672234" cy="72324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Freeform 12"/>
          <p:cNvSpPr/>
          <p:nvPr/>
        </p:nvSpPr>
        <p:spPr>
          <a:xfrm rot="14576138">
            <a:off x="-427487" y="135691"/>
            <a:ext cx="1672233" cy="72324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Freeform 13"/>
          <p:cNvSpPr/>
          <p:nvPr/>
        </p:nvSpPr>
        <p:spPr>
          <a:xfrm rot="4240378">
            <a:off x="16800098" y="9339379"/>
            <a:ext cx="1672234" cy="72324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Freeform 14"/>
          <p:cNvSpPr/>
          <p:nvPr/>
        </p:nvSpPr>
        <p:spPr>
          <a:xfrm rot="11150368">
            <a:off x="-318159" y="8432993"/>
            <a:ext cx="1094421" cy="100276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Freeform 15"/>
          <p:cNvSpPr/>
          <p:nvPr/>
        </p:nvSpPr>
        <p:spPr>
          <a:xfrm rot="430856">
            <a:off x="17702660" y="1196818"/>
            <a:ext cx="1094421" cy="100276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Freeform 16"/>
          <p:cNvSpPr/>
          <p:nvPr/>
        </p:nvSpPr>
        <p:spPr>
          <a:xfrm rot="15889519">
            <a:off x="791616" y="-453241"/>
            <a:ext cx="1094421" cy="100276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Freeform 17"/>
          <p:cNvSpPr/>
          <p:nvPr/>
        </p:nvSpPr>
        <p:spPr>
          <a:xfrm rot="5553757">
            <a:off x="16106802" y="9519467"/>
            <a:ext cx="1094421" cy="100276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TextBox 18"/>
          <p:cNvSpPr txBox="1"/>
          <p:nvPr/>
        </p:nvSpPr>
        <p:spPr>
          <a:xfrm>
            <a:off x="2768008" y="2408477"/>
            <a:ext cx="13666891" cy="4415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647690" indent="-323845">
              <a:lnSpc>
                <a:spcPts val="4100"/>
              </a:lnSpc>
              <a:buSzPct val="100000"/>
              <a:buFont typeface="Arial"/>
              <a:buChar char="•"/>
              <a:defRPr b="1"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Project Summary:</a:t>
            </a:r>
          </a:p>
          <a:p>
            <a:pPr lvl="2" marL="1238244" indent="-323844">
              <a:lnSpc>
                <a:spcPts val="4100"/>
              </a:lnSpc>
              <a:buSzPct val="100000"/>
              <a:buFont typeface="Arial"/>
              <a:buChar char="•"/>
              <a:defRPr b="1"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Successfully implemented a Deep Learning pipeline for ship detection using Semantic Segmentation.</a:t>
            </a:r>
          </a:p>
          <a:p>
            <a:pPr lvl="2" marL="1238244" indent="-323844">
              <a:lnSpc>
                <a:spcPts val="4100"/>
              </a:lnSpc>
              <a:buSzPct val="100000"/>
              <a:buFont typeface="Arial"/>
              <a:buChar char="•"/>
              <a:defRPr b="1"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Overcame the technical challenge of decoding Run Length Encoding (RLE) to create accurate pixel masks.</a:t>
            </a:r>
          </a:p>
          <a:p>
            <a:pPr lvl="2" marL="1238244" indent="-323844">
              <a:lnSpc>
                <a:spcPts val="4100"/>
              </a:lnSpc>
              <a:buSzPct val="100000"/>
              <a:buFont typeface="Arial"/>
              <a:buChar char="•"/>
              <a:defRPr b="1"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A robust UNET model was trained to accurately map ships in satellite imagery.</a:t>
            </a:r>
          </a:p>
          <a:p>
            <a:pPr lvl="1" marL="647690" indent="-323845">
              <a:lnSpc>
                <a:spcPts val="4100"/>
              </a:lnSpc>
              <a:buSzPct val="100000"/>
              <a:buFont typeface="Arial"/>
              <a:buChar char="•"/>
              <a:defRPr b="1" sz="2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</a:p>
        </p:txBody>
      </p:sp>
      <p:sp>
        <p:nvSpPr>
          <p:cNvPr id="201" name="TextBox 19"/>
          <p:cNvSpPr txBox="1"/>
          <p:nvPr/>
        </p:nvSpPr>
        <p:spPr>
          <a:xfrm>
            <a:off x="7382168" y="4972032"/>
            <a:ext cx="620050" cy="315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 sz="2100">
                <a:solidFill>
                  <a:srgbClr val="080736"/>
                </a:solidFill>
                <a:latin typeface="Tomorrow"/>
                <a:ea typeface="Tomorrow"/>
                <a:cs typeface="Tomorrow"/>
                <a:sym typeface="Tomorrow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02" name="TextBox 20"/>
          <p:cNvSpPr txBox="1"/>
          <p:nvPr/>
        </p:nvSpPr>
        <p:spPr>
          <a:xfrm>
            <a:off x="7382168" y="7847548"/>
            <a:ext cx="620050" cy="315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 sz="2100">
                <a:solidFill>
                  <a:srgbClr val="080736"/>
                </a:solidFill>
                <a:latin typeface="Tomorrow"/>
                <a:ea typeface="Tomorrow"/>
                <a:cs typeface="Tomorrow"/>
                <a:sym typeface="Tomorrow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03" name="TextBox 21"/>
          <p:cNvSpPr txBox="1"/>
          <p:nvPr/>
        </p:nvSpPr>
        <p:spPr>
          <a:xfrm>
            <a:off x="7382168" y="6411526"/>
            <a:ext cx="620050" cy="315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 sz="2100">
                <a:solidFill>
                  <a:srgbClr val="080736"/>
                </a:solidFill>
                <a:latin typeface="Tomorrow"/>
                <a:ea typeface="Tomorrow"/>
                <a:cs typeface="Tomorrow"/>
                <a:sym typeface="Tomorrow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04" name="TextBox 22"/>
          <p:cNvSpPr txBox="1"/>
          <p:nvPr/>
        </p:nvSpPr>
        <p:spPr>
          <a:xfrm>
            <a:off x="2768008" y="329195"/>
            <a:ext cx="9848369" cy="911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7300"/>
              </a:lnSpc>
              <a:defRPr b="1" sz="58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defRPr>
            </a:lvl1pPr>
          </a:lstStyle>
          <a:p>
            <a:pPr/>
            <a:r>
              <a:t>Conclusion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Freeform 2"/>
          <p:cNvSpPr/>
          <p:nvPr/>
        </p:nvSpPr>
        <p:spPr>
          <a:xfrm rot="17936874">
            <a:off x="17222463" y="3638022"/>
            <a:ext cx="1103042" cy="291232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Freeform 3"/>
          <p:cNvSpPr/>
          <p:nvPr/>
        </p:nvSpPr>
        <p:spPr>
          <a:xfrm rot="7487239">
            <a:off x="102999" y="7039094"/>
            <a:ext cx="539797" cy="142520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Freeform 4"/>
          <p:cNvSpPr/>
          <p:nvPr/>
        </p:nvSpPr>
        <p:spPr>
          <a:xfrm rot="478021">
            <a:off x="15272326" y="-1353665"/>
            <a:ext cx="2435881" cy="387652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Freeform 5"/>
          <p:cNvSpPr/>
          <p:nvPr/>
        </p:nvSpPr>
        <p:spPr>
          <a:xfrm rot="11628388">
            <a:off x="999517" y="9213488"/>
            <a:ext cx="1192049" cy="18970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Freeform 6"/>
          <p:cNvSpPr/>
          <p:nvPr/>
        </p:nvSpPr>
        <p:spPr>
          <a:xfrm rot="20286621">
            <a:off x="15745733" y="289751"/>
            <a:ext cx="3417107" cy="147789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Freeform 7"/>
          <p:cNvSpPr/>
          <p:nvPr/>
        </p:nvSpPr>
        <p:spPr>
          <a:xfrm rot="9836988">
            <a:off x="-343883" y="9571631"/>
            <a:ext cx="1672234" cy="7232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Freeform 8"/>
          <p:cNvSpPr/>
          <p:nvPr/>
        </p:nvSpPr>
        <p:spPr>
          <a:xfrm>
            <a:off x="17078774" y="1979996"/>
            <a:ext cx="2236382" cy="2049086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Freeform 9"/>
          <p:cNvSpPr/>
          <p:nvPr/>
        </p:nvSpPr>
        <p:spPr>
          <a:xfrm rot="11150368">
            <a:off x="-318159" y="8432993"/>
            <a:ext cx="1094421" cy="100276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Freeform 10"/>
          <p:cNvSpPr/>
          <p:nvPr/>
        </p:nvSpPr>
        <p:spPr>
          <a:xfrm>
            <a:off x="13850300" y="8835900"/>
            <a:ext cx="4114801" cy="4114801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Freeform 11"/>
          <p:cNvSpPr/>
          <p:nvPr/>
        </p:nvSpPr>
        <p:spPr>
          <a:xfrm>
            <a:off x="2090719" y="-2299825"/>
            <a:ext cx="4114801" cy="4114801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TextBox 12"/>
          <p:cNvSpPr txBox="1"/>
          <p:nvPr/>
        </p:nvSpPr>
        <p:spPr>
          <a:xfrm>
            <a:off x="1280574" y="2093220"/>
            <a:ext cx="15060312" cy="6727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20842" indent="-320842">
              <a:lnSpc>
                <a:spcPts val="4500"/>
              </a:lnSpc>
              <a:buSzPct val="100000"/>
              <a:buChar char="•"/>
              <a:defRPr b="1" sz="32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Further Evaluation: </a:t>
            </a:r>
            <a:r>
              <a:rPr b="0"/>
              <a:t>Test the model's performance on the hidden test set to get an objective measure of generalization.</a:t>
            </a:r>
            <a:endParaRPr b="0"/>
          </a:p>
          <a:p>
            <a:pPr marL="320842" indent="-320842">
              <a:lnSpc>
                <a:spcPts val="4500"/>
              </a:lnSpc>
              <a:buSzPct val="100000"/>
              <a:buChar char="•"/>
              <a:defRPr b="1" sz="32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Model Improvement: </a:t>
            </a:r>
            <a:r>
              <a:rPr b="0"/>
              <a:t>Explore advanced techniques such as multi-scale training, fine-tuning the UNET's hyperparameters, or experimenting with alternative segmentation models like DeepLabV3+ for potential performance gains.</a:t>
            </a:r>
            <a:endParaRPr b="0"/>
          </a:p>
          <a:p>
            <a:pPr marL="320842" indent="-320842">
              <a:lnSpc>
                <a:spcPts val="4500"/>
              </a:lnSpc>
              <a:buSzPct val="100000"/>
              <a:buChar char="•"/>
              <a:defRPr b="1" sz="32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Real-World Application: </a:t>
            </a:r>
            <a:r>
              <a:rPr b="0"/>
              <a:t>Apply the trained model to real-world, live satellite feeds for operational maritime monitoring, including tracking vessel traffic and detecting unlisted ships.</a:t>
            </a:r>
            <a:endParaRPr b="0"/>
          </a:p>
          <a:p>
            <a:pPr marL="320842" indent="-320842">
              <a:lnSpc>
                <a:spcPts val="4500"/>
              </a:lnSpc>
              <a:buSzPct val="100000"/>
              <a:buChar char="•"/>
              <a:defRPr b="1" sz="32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t>Efficiency Analysis: </a:t>
            </a:r>
            <a:r>
              <a:rPr b="0"/>
              <a:t>Conduct a thorough analysis of the model's inference speed to ensure it meets operational requirements for near real-time deployment.</a:t>
            </a:r>
            <a:endParaRPr b="0"/>
          </a:p>
        </p:txBody>
      </p:sp>
      <p:sp>
        <p:nvSpPr>
          <p:cNvPr id="217" name="TextBox 13"/>
          <p:cNvSpPr txBox="1"/>
          <p:nvPr/>
        </p:nvSpPr>
        <p:spPr>
          <a:xfrm>
            <a:off x="5956863" y="102398"/>
            <a:ext cx="8930217" cy="911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7300"/>
              </a:lnSpc>
              <a:defRPr b="1" sz="58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defRPr>
            </a:lvl1pPr>
          </a:lstStyle>
          <a:p>
            <a:pPr/>
            <a:r>
              <a:t>Future Work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